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640080"/>
            <a:ext cx="1554480" cy="34747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智能驾驶感知项目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508760"/>
            <a:ext cx="7863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F2B"/>
                </a:solidFill>
                <a:latin typeface="Microsoft YaHei"/>
              </a:rPr>
              <a:t>基于前视图像 ROI 的
车道区域二分类感知模型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971800"/>
            <a:ext cx="7498079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0">
                <a:solidFill>
                  <a:srgbClr val="536070"/>
                </a:solidFill>
                <a:latin typeface="Microsoft YaHei"/>
              </a:rPr>
              <a:t>Lane In/Out Binary Classification · TensorBoard · ONNX Runtime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4343400"/>
            <a:ext cx="1478280" cy="53035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ROI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200656" y="4507992"/>
            <a:ext cx="201168" cy="201168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392680" y="4343400"/>
            <a:ext cx="1478280" cy="530352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CNN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43528" y="4507992"/>
            <a:ext cx="201168" cy="201168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035552" y="4343400"/>
            <a:ext cx="1478280" cy="530352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F1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486400" y="4507992"/>
            <a:ext cx="201168" cy="201168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78424" y="4343400"/>
            <a:ext cx="1478280" cy="53035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TensorBoard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129272" y="4507992"/>
            <a:ext cx="201168" cy="201168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21296" y="4343400"/>
            <a:ext cx="1478280" cy="530352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ONNX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772144" y="4507992"/>
            <a:ext cx="201168" cy="201168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64168" y="4343400"/>
            <a:ext cx="1478280" cy="53035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Runtime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任务背景与目标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把车道线检测数据转化为车辆前方 ROI 的二分类判断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530352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527048"/>
            <a:ext cx="497433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作业要求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47091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输入：车载前视图像中的局部 ROI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输出：车道内 in_lane / 车道外 out_lane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目标：快速验证感知环境下的基础决策能力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加分：TensorBoard、ONNX、ONNX Runtime、图像增强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30352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2" y="1527048"/>
            <a:ext cx="497433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项目交付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874519"/>
            <a:ext cx="46634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可上传 GitHub 的标准工程结构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训练、推理、导出和数据转换脚本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实验报告 Word 与 PPT 设计文档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后续可替换为 TuSimple 真实训练结果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技术路线总览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从开源车道线标注到可部署的二分类模型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57400"/>
            <a:ext cx="1426464" cy="7772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TuSimple
数据集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947672" y="2221992"/>
            <a:ext cx="201168" cy="448056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39696" y="2057400"/>
            <a:ext cx="1426464" cy="77724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JSON
标注解析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538728" y="2221992"/>
            <a:ext cx="201168" cy="448056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30752" y="2057400"/>
            <a:ext cx="1426464" cy="7772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ROI
样本构建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129784" y="2221992"/>
            <a:ext cx="201168" cy="448056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321808" y="2057400"/>
            <a:ext cx="1426464" cy="7772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CNN
训练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720840" y="2221992"/>
            <a:ext cx="201168" cy="448056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12864" y="2057400"/>
            <a:ext cx="1426464" cy="77724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TensorBoard
可视化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311896" y="2221992"/>
            <a:ext cx="201168" cy="448056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03920" y="2057400"/>
            <a:ext cx="1426464" cy="7772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ONNX
导出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902952" y="2221992"/>
            <a:ext cx="201168" cy="448056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94976" y="2057400"/>
            <a:ext cx="1426464" cy="7772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Runtime
推理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576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41F2B"/>
                </a:solidFill>
                <a:latin typeface="Microsoft YaHei"/>
              </a:defRPr>
            </a:pPr>
            <a:r>
              <a:t>核心思路：不直接预测完整车道线，而是判断局部道路 ROI 是否处于当前车道区域内。</a:t>
            </a:r>
          </a:p>
          <a:p>
            <a:pPr>
              <a:spcAft>
                <a:spcPts val="600"/>
              </a:spcAft>
              <a:defRPr sz="1600">
                <a:solidFill>
                  <a:srgbClr val="141F2B"/>
                </a:solidFill>
                <a:latin typeface="Microsoft YaHei"/>
              </a:defRPr>
            </a:pPr>
            <a:r>
              <a:t>工程闭环：数据转换、模型训练、指标可视化、模型导出、跨框架推理验证。</a:t>
            </a:r>
          </a:p>
          <a:p>
            <a:pPr>
              <a:spcAft>
                <a:spcPts val="600"/>
              </a:spcAft>
              <a:defRPr sz="1600">
                <a:solidFill>
                  <a:srgbClr val="141F2B"/>
                </a:solidFill>
                <a:latin typeface="Microsoft YaHei"/>
              </a:defRPr>
            </a:pPr>
            <a:r>
              <a:t>当前状态：TuSimple 真实数据训练、测试、ONNX 导出和 Runtime 推理已完成。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数据集与 ROI 构建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将车道线检测标注转换为二分类图像样本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417320"/>
            <a:ext cx="365760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527048"/>
            <a:ext cx="332841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TuSimple 标注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874519"/>
            <a:ext cx="3108960" cy="14173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/>
          <a:lstStyle/>
          <a:p>
            <a:pPr algn="ctr"/>
            <a:r>
              <a:rPr sz="880">
                <a:solidFill>
                  <a:srgbClr val="E2E8F0"/>
                </a:solidFill>
                <a:latin typeface="Consolas"/>
              </a:rPr>
              <a:t>{
  "raw_file": "clips/.../20.jpg",
  "h_samples": [160, 170, ...],
  "lanes": [[-2, 620, 625, ...], ...]
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56616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raw_file：图像路径</a:t>
            </a:r>
          </a:p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h_samples：固定 y 坐标</a:t>
            </a:r>
          </a:p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lanes：车道线 x 坐标</a:t>
            </a:r>
          </a:p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-2：无有效标注点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417320"/>
            <a:ext cx="704088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90872" y="1527048"/>
            <a:ext cx="67116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转换策略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2057400"/>
            <a:ext cx="1442466" cy="6858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估计
车道中心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307074" y="2221992"/>
            <a:ext cx="201168" cy="356616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9098" y="2057400"/>
            <a:ext cx="1442466" cy="68580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中心裁剪
in_lane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914132" y="2221992"/>
            <a:ext cx="201168" cy="356616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06156" y="2057400"/>
            <a:ext cx="1442466" cy="68580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左右偏移
out_lane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521190" y="2221992"/>
            <a:ext cx="201168" cy="356616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713214" y="2057400"/>
            <a:ext cx="1442466" cy="6858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ImageFolder
训练结构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246120"/>
            <a:ext cx="6263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正样本：以当前车道中心裁剪车辆前方 ROI。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负样本：在车道中心基础上向左/右偏移裁剪。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输出目录：train/val 下分别包含 in_lane 与 out_lane。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模型结构设计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轻量 CNN：适合作业验证和快速推理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1439526" cy="7498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Input
160×96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915014" y="1764792"/>
            <a:ext cx="201168" cy="42062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07038" y="1600200"/>
            <a:ext cx="1439526" cy="74980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ConvBlock
3→24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519133" y="1764792"/>
            <a:ext cx="201168" cy="42062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11157" y="1600200"/>
            <a:ext cx="1439526" cy="7498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ConvBlock
24→48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123252" y="1764792"/>
            <a:ext cx="201168" cy="42062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315276" y="1600200"/>
            <a:ext cx="1439526" cy="7498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ConvBlock
48→96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727371" y="1764792"/>
            <a:ext cx="201168" cy="42062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19395" y="1600200"/>
            <a:ext cx="1439526" cy="74980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ConvBlock
96→128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331490" y="1764792"/>
            <a:ext cx="201168" cy="42062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23514" y="1600200"/>
            <a:ext cx="1439526" cy="7498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AvgPool
+ Dropout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935609" y="1764792"/>
            <a:ext cx="201168" cy="42062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127633" y="1600200"/>
            <a:ext cx="1439526" cy="7498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Linear
+ Sigmoid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926080"/>
            <a:ext cx="512064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3035808"/>
            <a:ext cx="47914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设计理由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429000"/>
            <a:ext cx="45720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卷积层提取车道线边缘、路面纹理和空间布局</a:t>
            </a:r>
          </a:p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BatchNorm + ReLU 提高训练稳定性</a:t>
            </a:r>
          </a:p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AdaptiveAvgPool 压缩空间特征</a:t>
            </a:r>
          </a:p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单 logit 输出适配二分类任务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926080"/>
            <a:ext cx="5212080" cy="24231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/>
          <a:lstStyle/>
          <a:p>
            <a:pPr algn="ctr"/>
            <a:r>
              <a:rPr sz="880">
                <a:solidFill>
                  <a:srgbClr val="E2E8F0"/>
                </a:solidFill>
                <a:latin typeface="Consolas"/>
              </a:rPr>
              <a:t>logits = model(images)
loss = BCEWithLogitsLoss(logits, targets)
prob = sigmoid(logit)
class = in_lane if prob &gt;= 0.5 else out_lane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训练流程与数据增强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训练集增强，验证集保持稳定评估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435608"/>
            <a:ext cx="48828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训练配置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5720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输入尺寸：160 × 96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优化器：AdamW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学习率：1e-3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Batch size：32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训练轮数：20 epochs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正式模型：best.pt，epoch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325880"/>
            <a:ext cx="539496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36792" y="1435608"/>
            <a:ext cx="506577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增强策略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8308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水平翻转：模拟左右车道位置变化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亮度扰动：模拟不同光照条件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对比度扰动：增强路面纹理鲁棒性</a:t>
            </a:r>
          </a:p>
          <a:p>
            <a:pPr>
              <a:spcAft>
                <a:spcPts val="600"/>
              </a:spcAft>
              <a:defRPr sz="1500">
                <a:solidFill>
                  <a:srgbClr val="141F2B"/>
                </a:solidFill>
                <a:latin typeface="Microsoft YaHei"/>
              </a:defRPr>
            </a:pPr>
            <a:r>
              <a:t>验证集不增强：保证指标可比较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4114800"/>
            <a:ext cx="4709160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/>
          <a:lstStyle/>
          <a:p>
            <a:pPr algn="ctr"/>
            <a:r>
              <a:rPr sz="880">
                <a:solidFill>
                  <a:srgbClr val="E2E8F0"/>
                </a:solidFill>
                <a:latin typeface="Consolas"/>
              </a:rPr>
              <a:t>image = FLIP_LEFT_RIGHT(image)
brightness = uniform(0.65, 1.35)
contrast = uniform(0.8, 1.2)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TensorBoard 训练过程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记录 train / val 的 loss、accuracy、precision、recall、F1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53492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435608"/>
            <a:ext cx="50200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观察重点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663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41F2B"/>
                </a:solidFill>
                <a:latin typeface="Microsoft YaHei"/>
              </a:defRPr>
            </a:pPr>
            <a:r>
              <a:t>loss 是否下降</a:t>
            </a:r>
          </a:p>
          <a:p>
            <a:pPr>
              <a:spcAft>
                <a:spcPts val="600"/>
              </a:spcAft>
              <a:defRPr sz="1600">
                <a:solidFill>
                  <a:srgbClr val="141F2B"/>
                </a:solidFill>
                <a:latin typeface="Microsoft YaHei"/>
              </a:defRPr>
            </a:pPr>
            <a:r>
              <a:t>accuracy / F1 是否上升</a:t>
            </a:r>
          </a:p>
          <a:p>
            <a:pPr>
              <a:spcAft>
                <a:spcPts val="600"/>
              </a:spcAft>
              <a:defRPr sz="1600">
                <a:solidFill>
                  <a:srgbClr val="141F2B"/>
                </a:solidFill>
                <a:latin typeface="Microsoft YaHei"/>
              </a:defRPr>
            </a:pPr>
            <a:r>
              <a:t>train 与 val 是否明显分叉</a:t>
            </a:r>
          </a:p>
          <a:p>
            <a:pPr>
              <a:spcAft>
                <a:spcPts val="600"/>
              </a:spcAft>
              <a:defRPr sz="1600">
                <a:solidFill>
                  <a:srgbClr val="141F2B"/>
                </a:solidFill>
                <a:latin typeface="Microsoft YaHei"/>
              </a:defRPr>
            </a:pPr>
            <a:r>
              <a:t>曲线截图可放入实验报告和答辩 PPT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434840"/>
            <a:ext cx="4663440" cy="6858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/>
          <a:lstStyle/>
          <a:p>
            <a:pPr algn="ctr"/>
            <a:r>
              <a:rPr sz="880">
                <a:solidFill>
                  <a:srgbClr val="E2E8F0"/>
                </a:solidFill>
                <a:latin typeface="Consolas"/>
              </a:rPr>
              <a:t>tensorboard --logdir outputs\tusimple_run\tensorboard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25880"/>
            <a:ext cx="53035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435608"/>
            <a:ext cx="497433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TuSimple 训练现象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828800"/>
            <a:ext cx="4572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41F2B"/>
                </a:solidFill>
                <a:latin typeface="Microsoft YaHei"/>
              </a:defRPr>
            </a:pPr>
            <a:r>
              <a:t>20 个 epoch 完成真实数据训练</a:t>
            </a:r>
          </a:p>
          <a:p>
            <a:pPr>
              <a:spcAft>
                <a:spcPts val="600"/>
              </a:spcAft>
              <a:defRPr sz="1600">
                <a:solidFill>
                  <a:srgbClr val="141F2B"/>
                </a:solidFill>
                <a:latin typeface="Microsoft YaHei"/>
              </a:defRPr>
            </a:pPr>
            <a:r>
              <a:t>best.pt 出现在 epoch 18</a:t>
            </a:r>
          </a:p>
          <a:p>
            <a:pPr>
              <a:spcAft>
                <a:spcPts val="600"/>
              </a:spcAft>
              <a:defRPr sz="1600">
                <a:solidFill>
                  <a:srgbClr val="141F2B"/>
                </a:solidFill>
                <a:latin typeface="Microsoft YaHei"/>
              </a:defRPr>
            </a:pPr>
            <a:r>
              <a:t>验证集 F1 = 0.8722</a:t>
            </a:r>
          </a:p>
          <a:p>
            <a:pPr>
              <a:spcAft>
                <a:spcPts val="600"/>
              </a:spcAft>
              <a:defRPr sz="1600">
                <a:solidFill>
                  <a:srgbClr val="141F2B"/>
                </a:solidFill>
                <a:latin typeface="Microsoft YaHei"/>
              </a:defRPr>
            </a:pPr>
            <a:r>
              <a:t>测试集 F1 = 0.9511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TensorBoard 曲线展示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TuSimple 真实训练过程：loss、F1、accuracy、precision / recall</a:t>
            </a:r>
          </a:p>
        </p:txBody>
      </p:sp>
      <p:pic>
        <p:nvPicPr>
          <p:cNvPr id="4" name="Picture 3" descr="tensorboard_tusimple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07008"/>
            <a:ext cx="10835640" cy="5394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ONNX 导出与 ONNX Runtime 推理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验证模型可脱离 PyTorch 独立运行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008022" cy="7498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best.pt
PyTorch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712110" y="1810512"/>
            <a:ext cx="201168" cy="42062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04134" y="1645920"/>
            <a:ext cx="2008022" cy="74980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export_onnx.py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84724" y="1810512"/>
            <a:ext cx="201168" cy="42062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76748" y="1645920"/>
            <a:ext cx="2008022" cy="7498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lane_binary_classifier.onnx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57339" y="1810512"/>
            <a:ext cx="201168" cy="42062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249363" y="1645920"/>
            <a:ext cx="2008022" cy="7498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predict_onnx.py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29953" y="1810512"/>
            <a:ext cx="201168" cy="420624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421977" y="1645920"/>
            <a:ext cx="2008022" cy="74980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ONNX Runtime
CPU 推理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017520"/>
            <a:ext cx="525780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3127248"/>
            <a:ext cx="492861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推理结果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520440"/>
            <a:ext cx="46634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test in_lane：probability_in_lane = 0.9432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test out_lane：probability_in_lane = 0.0000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误判样例：out_lane 被判为 in_lane，p=0.7757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provider = CPUExecutionProvider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017520"/>
            <a:ext cx="5257800" cy="24231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/>
          <a:lstStyle/>
          <a:p>
            <a:pPr algn="ctr"/>
            <a:r>
              <a:rPr sz="880">
                <a:solidFill>
                  <a:srgbClr val="E2E8F0"/>
                </a:solidFill>
                <a:latin typeface="Consolas"/>
              </a:rPr>
              <a:t>python -m lane_binary_classifier.predict_onnx ^
  --onnx-model outputs\tusimple_run\lane_binary_classifier.onnx ^
  --image data\tusimple_binary\test\in_lane\..._center.png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ONNX Runtime 结果展示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真实 test ROI 上的正确预测与典型 FP 误判样例</a:t>
            </a:r>
          </a:p>
        </p:txBody>
      </p:sp>
      <p:pic>
        <p:nvPicPr>
          <p:cNvPr id="4" name="Picture 3" descr="onnx_runtime_tusimple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98448"/>
            <a:ext cx="10835640" cy="3950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4406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绿色边框：预测正确样例；橙色边框：FP 误判样例。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该页用于展示 ONNX Runtime 已经能脱离 PyTorch 独立完成真实图片推理。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实验结果分析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TuSimple 独立测试集 F1 达到 0.9511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17320"/>
          <a:ext cx="6400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  <a:gridCol w="1280160"/>
              </a:tblGrid>
              <a:tr h="411480"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数据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Acc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TuSimple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0.9665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0.9301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0.9732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0.9511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TuSimple 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0.9085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0.8254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0.8722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ONNX Demo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p=0.9432 / 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OK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452360" y="1417320"/>
            <a:ext cx="406908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16952" y="1527048"/>
            <a:ext cx="37398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结果解读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26679" y="1874519"/>
            <a:ext cx="3520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测试集共 1224 个 ROI 样本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Accuracy = 0.9665，F1 = 0.9511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Recall = 0.9732，车道内召回较高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FP=30 大于 FN=11，后续可优化困难负样本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20440"/>
            <a:ext cx="64008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630168"/>
            <a:ext cx="607161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混淆矩阵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977639"/>
            <a:ext cx="5760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TP=399：真实 in_lane，预测 in_lane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TN=784：真实 out_lane，预测 out_lane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FP=30：真实 out_lane，误判 in_lane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FN=11：真实 in_lane，误判 out_lane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问题记录与解决方案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工程问题也是项目完成度的一部分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109728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60120" y="1691640"/>
            <a:ext cx="320040" cy="3200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664208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pip 命令误连 → 分开执行 pip install -r 和 pip install -e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2377440"/>
            <a:ext cx="320040" cy="3200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350008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TensorBoard 提示缺少 TensorFlow → PyTorch 曲线仍可正常显示，无需安装 TensorFlow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3063240"/>
            <a:ext cx="320040" cy="3200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035808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ONNX 缺少依赖 → 补充 onnx、onnxscript、onnxruntime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3749040"/>
            <a:ext cx="320040" cy="3200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721608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Windows 中文终端导出编码问题 → 使用 legacy ONNX export，dynamo=False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" y="4434840"/>
            <a:ext cx="320040" cy="3200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407408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41F2B"/>
                </a:solidFill>
                <a:latin typeface="Microsoft YaHei"/>
              </a:defRPr>
            </a:pPr>
            <a:r>
              <a:t>GitHub workflow 权限不足 → 移除非必要 CI 文件后成功 push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方案优缺点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轻量二分类方案适合快速验证，也有明确边界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53492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435608"/>
            <a:ext cx="50200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优点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663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模型轻量，训练和推理速度快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ROI 聚焦车辆前方关键区域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支持 TensorBoard 可视化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支持 ONNX 部署验证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数据转换逻辑清晰，易复现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325880"/>
            <a:ext cx="53492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2" y="1435608"/>
            <a:ext cx="50200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不足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783080"/>
            <a:ext cx="4663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无法输出精确车道线位置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ROI 标签质量依赖裁剪策略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部分困难 out_lane 会被误判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未利用连续帧时序信息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复杂天气、遮挡、弯道仍需进一步验证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F2B"/>
                </a:solidFill>
                <a:latin typeface="Microsoft YaHei"/>
              </a:rPr>
              <a:t>总结与下一步工作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50392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36070"/>
                </a:solidFill>
                <a:latin typeface="Microsoft YaHei"/>
              </a:rPr>
              <a:t>真实数据训练与部署验证均已完成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53492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435608"/>
            <a:ext cx="50200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当前完成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663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完成 TuSimple 数据转换与训练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测试集 Accuracy=0.9665，F1=0.9511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完成 TensorBoard 训练记录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完成 ONNX Runtime 独立推理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完成 Word/PPT 作业材料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325880"/>
            <a:ext cx="53492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2" y="1435608"/>
            <a:ext cx="50200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1F2B"/>
                </a:solidFill>
                <a:latin typeface="Microsoft YaHei"/>
              </a:rPr>
              <a:t>下一阶段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783080"/>
            <a:ext cx="4663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补充更多误差样例截图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尝试 MobileNet / ResNet18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调整阈值降低 FP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统计 ONNX Runtime 推理耗时</a:t>
            </a:r>
          </a:p>
          <a:p>
            <a:pPr>
              <a:spcAft>
                <a:spcPts val="600"/>
              </a:spcAft>
              <a:defRPr sz="1400">
                <a:solidFill>
                  <a:srgbClr val="141F2B"/>
                </a:solidFill>
                <a:latin typeface="Microsoft YaHei"/>
              </a:defRPr>
            </a:pPr>
            <a:r>
              <a:t>加入更多天气/光照增强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20140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64040" y="6547104"/>
            <a:ext cx="2240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36070"/>
                </a:solidFill>
                <a:latin typeface="Microsoft YaHei"/>
              </a:rPr>
              <a:t>Lane Binary Classifier ·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